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72" r:id="rId7"/>
    <p:sldId id="273" r:id="rId8"/>
    <p:sldId id="260" r:id="rId9"/>
    <p:sldId id="261" r:id="rId10"/>
    <p:sldId id="286" r:id="rId11"/>
    <p:sldId id="274" r:id="rId12"/>
    <p:sldId id="262" r:id="rId13"/>
    <p:sldId id="287" r:id="rId14"/>
    <p:sldId id="275" r:id="rId15"/>
    <p:sldId id="279" r:id="rId16"/>
    <p:sldId id="276" r:id="rId17"/>
    <p:sldId id="280" r:id="rId18"/>
    <p:sldId id="281" r:id="rId19"/>
    <p:sldId id="282" r:id="rId20"/>
    <p:sldId id="283" r:id="rId21"/>
    <p:sldId id="284" r:id="rId22"/>
    <p:sldId id="278" r:id="rId23"/>
    <p:sldId id="285" r:id="rId24"/>
    <p:sldId id="268" r:id="rId25"/>
    <p:sldId id="26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smtClean="0"/>
              <a:t>Binary </a:t>
            </a:r>
            <a:r>
              <a:rPr dirty="0"/>
              <a:t>Search Trees (BST)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Dr. K. Arul </a:t>
            </a:r>
            <a:r>
              <a:rPr lang="en-US" dirty="0" err="1" smtClean="0"/>
              <a:t>Deepa</a:t>
            </a:r>
            <a:endParaRPr dirty="0"/>
          </a:p>
          <a:p>
            <a:r>
              <a:rPr lang="en-US" dirty="0" smtClean="0"/>
              <a:t>DIST, CEG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Binary Search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Binary Search Tree (BST) is a hierarchical data structure in which each node contains a key and pointers to two children.</a:t>
            </a:r>
          </a:p>
          <a:p>
            <a:endParaRPr dirty="0"/>
          </a:p>
          <a:p>
            <a:r>
              <a:rPr dirty="0"/>
              <a:t>Properties:</a:t>
            </a:r>
          </a:p>
          <a:p>
            <a:pPr lvl="1"/>
            <a:r>
              <a:rPr dirty="0" smtClean="0"/>
              <a:t> </a:t>
            </a:r>
            <a:r>
              <a:rPr dirty="0"/>
              <a:t>Left subtree: keys ≤ root</a:t>
            </a:r>
          </a:p>
          <a:p>
            <a:pPr lvl="1"/>
            <a:r>
              <a:rPr dirty="0" smtClean="0"/>
              <a:t> </a:t>
            </a:r>
            <a:r>
              <a:rPr dirty="0"/>
              <a:t>Right subtree: keys ≥ root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Search Tree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Binary Search Tree Property: All nodes in the left subtree are less than the parent node, and all nodes in the right subtree are greater than or equal to the parent node.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BST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91" y="1736963"/>
            <a:ext cx="8882014" cy="512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4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Operations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Operations:</a:t>
            </a:r>
          </a:p>
          <a:p>
            <a:r>
              <a:rPr dirty="0"/>
              <a:t>1. Search</a:t>
            </a:r>
          </a:p>
          <a:p>
            <a:r>
              <a:rPr dirty="0"/>
              <a:t>2. Insertion</a:t>
            </a:r>
          </a:p>
          <a:p>
            <a:r>
              <a:rPr dirty="0"/>
              <a:t>3. Deletion</a:t>
            </a:r>
          </a:p>
          <a:p>
            <a:r>
              <a:rPr dirty="0"/>
              <a:t>4. Traversal (</a:t>
            </a:r>
            <a:r>
              <a:rPr dirty="0" err="1"/>
              <a:t>Inorder</a:t>
            </a:r>
            <a:r>
              <a:rPr dirty="0"/>
              <a:t>, Preorder, </a:t>
            </a:r>
            <a:r>
              <a:rPr dirty="0" err="1"/>
              <a:t>Postorder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Complexity:</a:t>
            </a:r>
          </a:p>
          <a:p>
            <a:r>
              <a:rPr dirty="0"/>
              <a:t>- Best Case: O(log n)</a:t>
            </a:r>
          </a:p>
          <a:p>
            <a:r>
              <a:rPr dirty="0"/>
              <a:t>- Worst Case: O(n)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1" y="390294"/>
            <a:ext cx="8878824" cy="607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0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 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3835"/>
            <a:ext cx="8508380" cy="35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0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in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Problem Statement: Search for a key in a BST.</a:t>
            </a:r>
          </a:p>
          <a:p>
            <a:endParaRPr dirty="0"/>
          </a:p>
          <a:p>
            <a:r>
              <a:rPr dirty="0"/>
              <a:t>Algorithm:</a:t>
            </a:r>
          </a:p>
          <a:p>
            <a:r>
              <a:rPr dirty="0"/>
              <a:t>BST-Search(x, k):</a:t>
            </a:r>
          </a:p>
          <a:p>
            <a:r>
              <a:rPr dirty="0"/>
              <a:t>    if x == NIL or k == </a:t>
            </a:r>
            <a:r>
              <a:rPr dirty="0" err="1"/>
              <a:t>x.key</a:t>
            </a:r>
            <a:r>
              <a:rPr dirty="0"/>
              <a:t>:</a:t>
            </a:r>
          </a:p>
          <a:p>
            <a:r>
              <a:rPr dirty="0"/>
              <a:t>        return x</a:t>
            </a:r>
          </a:p>
          <a:p>
            <a:r>
              <a:rPr dirty="0"/>
              <a:t>    if k &lt; </a:t>
            </a:r>
            <a:r>
              <a:rPr dirty="0" err="1"/>
              <a:t>x.key</a:t>
            </a:r>
            <a:r>
              <a:rPr dirty="0"/>
              <a:t>:</a:t>
            </a:r>
          </a:p>
          <a:p>
            <a:r>
              <a:rPr dirty="0"/>
              <a:t>        return BST-Search(</a:t>
            </a:r>
            <a:r>
              <a:rPr dirty="0" err="1"/>
              <a:t>x.left</a:t>
            </a:r>
            <a:r>
              <a:rPr dirty="0"/>
              <a:t>, k)</a:t>
            </a:r>
          </a:p>
          <a:p>
            <a:r>
              <a:rPr dirty="0"/>
              <a:t>    else:</a:t>
            </a:r>
          </a:p>
          <a:p>
            <a:r>
              <a:rPr dirty="0"/>
              <a:t>        return BST-Search(</a:t>
            </a:r>
            <a:r>
              <a:rPr dirty="0" err="1"/>
              <a:t>x.right</a:t>
            </a:r>
            <a:r>
              <a:rPr dirty="0"/>
              <a:t>)</a:t>
            </a:r>
          </a:p>
          <a:p>
            <a:endParaRPr dirty="0"/>
          </a:p>
          <a:p>
            <a:r>
              <a:rPr dirty="0" smtClean="0"/>
              <a:t>Complexity</a:t>
            </a:r>
            <a:r>
              <a:rPr dirty="0"/>
              <a:t>: O(h) where h is the height of the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Search in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Iterative Algorithm:</a:t>
            </a:r>
          </a:p>
          <a:p>
            <a:r>
              <a:rPr dirty="0"/>
              <a:t>BST-Search-Iterative(x, k):</a:t>
            </a:r>
          </a:p>
          <a:p>
            <a:r>
              <a:rPr dirty="0"/>
              <a:t>    while x ≠ NIL and k ≠ </a:t>
            </a:r>
            <a:r>
              <a:rPr dirty="0" err="1"/>
              <a:t>x.key</a:t>
            </a:r>
            <a:r>
              <a:rPr dirty="0"/>
              <a:t>:</a:t>
            </a:r>
          </a:p>
          <a:p>
            <a:r>
              <a:rPr dirty="0"/>
              <a:t>        if k &lt; </a:t>
            </a:r>
            <a:r>
              <a:rPr dirty="0" err="1"/>
              <a:t>x.key</a:t>
            </a:r>
            <a:r>
              <a:rPr dirty="0"/>
              <a:t>:</a:t>
            </a:r>
          </a:p>
          <a:p>
            <a:r>
              <a:rPr dirty="0"/>
              <a:t>            x = </a:t>
            </a:r>
            <a:r>
              <a:rPr dirty="0" err="1"/>
              <a:t>x.left</a:t>
            </a:r>
            <a:endParaRPr dirty="0"/>
          </a:p>
          <a:p>
            <a:r>
              <a:rPr dirty="0"/>
              <a:t>        else:</a:t>
            </a:r>
          </a:p>
          <a:p>
            <a:r>
              <a:rPr dirty="0"/>
              <a:t>            x = </a:t>
            </a:r>
            <a:r>
              <a:rPr dirty="0" err="1"/>
              <a:t>x.right</a:t>
            </a:r>
            <a:endParaRPr dirty="0"/>
          </a:p>
          <a:p>
            <a:r>
              <a:rPr dirty="0"/>
              <a:t>    return x</a:t>
            </a:r>
          </a:p>
          <a:p>
            <a:endParaRPr dirty="0"/>
          </a:p>
          <a:p>
            <a:r>
              <a:rPr dirty="0"/>
              <a:t>Explanation: This avoids recursion by using a loop.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 – C 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// function to search a key in a BST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Node* search(</a:t>
            </a:r>
            <a:r>
              <a:rPr lang="en-US" dirty="0" err="1"/>
              <a:t>struct</a:t>
            </a:r>
            <a:r>
              <a:rPr lang="en-US" dirty="0"/>
              <a:t> Node* root, </a:t>
            </a:r>
            <a:r>
              <a:rPr lang="en-US" dirty="0" err="1"/>
              <a:t>int</a:t>
            </a:r>
            <a:r>
              <a:rPr lang="en-US" dirty="0"/>
              <a:t> key)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Base Cases: root is null or key is</a:t>
            </a:r>
          </a:p>
          <a:p>
            <a:pPr marL="0" indent="0">
              <a:buNone/>
            </a:pPr>
            <a:r>
              <a:rPr lang="en-US" dirty="0"/>
              <a:t>    // present at root</a:t>
            </a:r>
          </a:p>
          <a:p>
            <a:pPr marL="0" indent="0">
              <a:buNone/>
            </a:pPr>
            <a:r>
              <a:rPr lang="en-US" dirty="0"/>
              <a:t>    if (root == NULL || root-&gt;key == key)</a:t>
            </a:r>
          </a:p>
          <a:p>
            <a:pPr marL="0" indent="0">
              <a:buNone/>
            </a:pPr>
            <a:r>
              <a:rPr lang="en-US" dirty="0"/>
              <a:t>        return root;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Key is greater than root's key</a:t>
            </a:r>
          </a:p>
          <a:p>
            <a:pPr marL="0" indent="0">
              <a:buNone/>
            </a:pPr>
            <a:r>
              <a:rPr lang="en-US" dirty="0"/>
              <a:t>    if (root-&gt;key &lt; key)</a:t>
            </a:r>
          </a:p>
          <a:p>
            <a:pPr marL="0" indent="0">
              <a:buNone/>
            </a:pPr>
            <a:r>
              <a:rPr lang="en-US" dirty="0"/>
              <a:t>        return search(root-&gt;right, key);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Key is smaller than root's key</a:t>
            </a:r>
          </a:p>
          <a:p>
            <a:pPr marL="0" indent="0">
              <a:buNone/>
            </a:pPr>
            <a:r>
              <a:rPr lang="en-US" dirty="0"/>
              <a:t>    return search(root-&gt;left, key);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67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and Maximum in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35" y="1602574"/>
            <a:ext cx="8374566" cy="430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2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Minimum and Maximum in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Finding Minimum: Traverse left subtree until NIL.</a:t>
            </a:r>
          </a:p>
          <a:p>
            <a:r>
              <a:t>Algorithm:</a:t>
            </a:r>
          </a:p>
          <a:p>
            <a:r>
              <a:t>BST-Minimum(x):</a:t>
            </a:r>
          </a:p>
          <a:p>
            <a:r>
              <a:t>    while x.left ≠ NIL:</a:t>
            </a:r>
          </a:p>
          <a:p>
            <a:r>
              <a:t>        x = x.left</a:t>
            </a:r>
          </a:p>
          <a:p>
            <a:r>
              <a:t>    return x</a:t>
            </a:r>
          </a:p>
          <a:p>
            <a:endParaRPr/>
          </a:p>
          <a:p>
            <a:r>
              <a:t>Finding Maximum: Traverse right subtree until NIL.</a:t>
            </a:r>
          </a:p>
          <a:p>
            <a:r>
              <a:t>Algorithm:</a:t>
            </a:r>
          </a:p>
          <a:p>
            <a:r>
              <a:t>BST-Maximum(x):</a:t>
            </a:r>
          </a:p>
          <a:p>
            <a:r>
              <a:t>    while x.right ≠ NIL:</a:t>
            </a:r>
          </a:p>
          <a:p>
            <a:r>
              <a:t>        x = x.right</a:t>
            </a:r>
          </a:p>
          <a:p>
            <a:r>
              <a:t>    return x</a:t>
            </a:r>
          </a:p>
          <a:p>
            <a:endParaRPr/>
          </a:p>
          <a:p>
            <a:r>
              <a:t>Examples: Illustrate finding minimum and maximum in a BST.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order - Successor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916" y="1728439"/>
            <a:ext cx="7307318" cy="408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6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708" y="1417638"/>
            <a:ext cx="8834583" cy="444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4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 err="1"/>
              <a:t>Initilize</a:t>
            </a:r>
            <a:r>
              <a:rPr lang="en-US" dirty="0"/>
              <a:t> the current node (say, </a:t>
            </a:r>
            <a:r>
              <a:rPr lang="en-US" b="1" dirty="0" err="1"/>
              <a:t>currNode</a:t>
            </a:r>
            <a:r>
              <a:rPr lang="en-US" b="1" dirty="0"/>
              <a:t> or node</a:t>
            </a:r>
            <a:r>
              <a:rPr lang="en-US" dirty="0"/>
              <a:t>) with root node</a:t>
            </a:r>
          </a:p>
          <a:p>
            <a:pPr fontAlgn="base"/>
            <a:r>
              <a:rPr lang="en-US" dirty="0"/>
              <a:t>Compare the </a:t>
            </a:r>
            <a:r>
              <a:rPr lang="en-US" b="1" dirty="0"/>
              <a:t>key </a:t>
            </a:r>
            <a:r>
              <a:rPr lang="en-US" dirty="0"/>
              <a:t>with the current node.</a:t>
            </a:r>
          </a:p>
          <a:p>
            <a:pPr fontAlgn="base"/>
            <a:r>
              <a:rPr lang="en-US" b="1" dirty="0"/>
              <a:t>Move left</a:t>
            </a:r>
            <a:r>
              <a:rPr lang="en-US" dirty="0"/>
              <a:t> if the </a:t>
            </a:r>
            <a:r>
              <a:rPr lang="en-US" b="1" dirty="0"/>
              <a:t>key </a:t>
            </a:r>
            <a:r>
              <a:rPr lang="en-US" dirty="0"/>
              <a:t>is less than or equal to the current node value.</a:t>
            </a:r>
          </a:p>
          <a:p>
            <a:pPr fontAlgn="base"/>
            <a:r>
              <a:rPr lang="en-US" b="1" dirty="0"/>
              <a:t>Move right</a:t>
            </a:r>
            <a:r>
              <a:rPr lang="en-US" dirty="0"/>
              <a:t> if the </a:t>
            </a:r>
            <a:r>
              <a:rPr lang="en-US" b="1" dirty="0"/>
              <a:t>key </a:t>
            </a:r>
            <a:r>
              <a:rPr lang="en-US" dirty="0"/>
              <a:t>is greater than current node value.</a:t>
            </a:r>
          </a:p>
          <a:p>
            <a:pPr fontAlgn="base"/>
            <a:r>
              <a:rPr lang="en-US" dirty="0"/>
              <a:t>Repeat steps 2 and 3 until you reach a leaf node.</a:t>
            </a:r>
          </a:p>
          <a:p>
            <a:pPr fontAlgn="base"/>
            <a:r>
              <a:rPr lang="en-US" dirty="0"/>
              <a:t>Attach the</a:t>
            </a:r>
            <a:r>
              <a:rPr lang="en-US" b="1" dirty="0"/>
              <a:t> new key</a:t>
            </a:r>
            <a:r>
              <a:rPr lang="en-US" dirty="0"/>
              <a:t> as a left or right child based on the comparison with the leaf node’s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194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73" y="1417638"/>
            <a:ext cx="6008160" cy="506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C- 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 smtClean="0"/>
              <a:t>// </a:t>
            </a:r>
            <a:r>
              <a:rPr lang="en-US" dirty="0"/>
              <a:t>Define the structure for a BST node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Node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key;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struct</a:t>
            </a:r>
            <a:r>
              <a:rPr lang="en-US" dirty="0"/>
              <a:t> Node* left;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struct</a:t>
            </a:r>
            <a:r>
              <a:rPr lang="en-US" dirty="0"/>
              <a:t> Node* right;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Function to create a new BST node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Node* </a:t>
            </a:r>
            <a:r>
              <a:rPr lang="en-US" dirty="0" err="1"/>
              <a:t>newNode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item)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struct</a:t>
            </a:r>
            <a:r>
              <a:rPr lang="en-US" dirty="0"/>
              <a:t> Node* temp = </a:t>
            </a:r>
          </a:p>
          <a:p>
            <a:pPr marL="0" indent="0">
              <a:buNone/>
            </a:pPr>
            <a:r>
              <a:rPr lang="en-US" dirty="0"/>
              <a:t>       (</a:t>
            </a:r>
            <a:r>
              <a:rPr lang="en-US" dirty="0" err="1"/>
              <a:t>struct</a:t>
            </a:r>
            <a:r>
              <a:rPr lang="en-US" dirty="0"/>
              <a:t> Node*)</a:t>
            </a:r>
            <a:r>
              <a:rPr lang="en-US" dirty="0" err="1"/>
              <a:t>malloc</a:t>
            </a:r>
            <a:r>
              <a:rPr lang="en-US" dirty="0"/>
              <a:t>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Node));</a:t>
            </a:r>
          </a:p>
          <a:p>
            <a:pPr marL="0" indent="0">
              <a:buNone/>
            </a:pPr>
            <a:r>
              <a:rPr lang="en-US" dirty="0"/>
              <a:t>    temp-&gt;key = item;</a:t>
            </a:r>
          </a:p>
          <a:p>
            <a:pPr marL="0" indent="0">
              <a:buNone/>
            </a:pPr>
            <a:r>
              <a:rPr lang="en-US" dirty="0"/>
              <a:t>    temp-&gt;left = temp-&gt;right = NULL;</a:t>
            </a:r>
          </a:p>
          <a:p>
            <a:pPr marL="0" indent="0">
              <a:buNone/>
            </a:pPr>
            <a:r>
              <a:rPr lang="en-US" dirty="0"/>
              <a:t>    return temp;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// Function to insert a new node with the given key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Node* insert(</a:t>
            </a:r>
            <a:r>
              <a:rPr lang="en-US" dirty="0" err="1"/>
              <a:t>struct</a:t>
            </a:r>
            <a:r>
              <a:rPr lang="en-US" dirty="0"/>
              <a:t> Node* node, </a:t>
            </a:r>
            <a:r>
              <a:rPr lang="en-US" dirty="0" err="1"/>
              <a:t>int</a:t>
            </a:r>
            <a:r>
              <a:rPr lang="en-US" dirty="0"/>
              <a:t> key) {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  // If the tree is empty, return a new node</a:t>
            </a:r>
          </a:p>
          <a:p>
            <a:pPr marL="0" indent="0">
              <a:buNone/>
            </a:pPr>
            <a:r>
              <a:rPr lang="en-US" dirty="0"/>
              <a:t>    if (node == NULL)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newNode</a:t>
            </a:r>
            <a:r>
              <a:rPr lang="en-US" dirty="0"/>
              <a:t>(key);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// If the key is already present in the tree,</a:t>
            </a:r>
          </a:p>
          <a:p>
            <a:pPr marL="0" indent="0">
              <a:buNone/>
            </a:pPr>
            <a:r>
              <a:rPr lang="en-US" dirty="0"/>
              <a:t>    // return the node</a:t>
            </a:r>
          </a:p>
          <a:p>
            <a:pPr marL="0" indent="0">
              <a:buNone/>
            </a:pPr>
            <a:r>
              <a:rPr lang="en-US" dirty="0"/>
              <a:t>    if (node-&gt;key == key)</a:t>
            </a:r>
          </a:p>
          <a:p>
            <a:pPr marL="0" indent="0">
              <a:buNone/>
            </a:pPr>
            <a:r>
              <a:rPr lang="en-US" dirty="0"/>
              <a:t>        return node;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// Otherwise, recur down the tree. If the key </a:t>
            </a:r>
          </a:p>
          <a:p>
            <a:pPr marL="0" indent="0">
              <a:buNone/>
            </a:pPr>
            <a:r>
              <a:rPr lang="en-US" dirty="0"/>
              <a:t>    // to be inserted is greater than the node's key,</a:t>
            </a:r>
          </a:p>
          <a:p>
            <a:pPr marL="0" indent="0">
              <a:buNone/>
            </a:pPr>
            <a:r>
              <a:rPr lang="en-US" dirty="0"/>
              <a:t>    // insert it in the right subtree</a:t>
            </a:r>
          </a:p>
          <a:p>
            <a:pPr marL="0" indent="0">
              <a:buNone/>
            </a:pPr>
            <a:r>
              <a:rPr lang="en-US" dirty="0"/>
              <a:t>    if (node-&gt;key &lt; key)</a:t>
            </a:r>
          </a:p>
          <a:p>
            <a:pPr marL="0" indent="0">
              <a:buNone/>
            </a:pPr>
            <a:r>
              <a:rPr lang="en-US" dirty="0"/>
              <a:t>        node-&gt;right = insert(node-&gt;right, key);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  // If the key to be inserted is smaller than </a:t>
            </a:r>
          </a:p>
          <a:p>
            <a:pPr marL="0" indent="0">
              <a:buNone/>
            </a:pPr>
            <a:r>
              <a:rPr lang="en-US" dirty="0"/>
              <a:t>    // the node's </a:t>
            </a:r>
            <a:r>
              <a:rPr lang="en-US" dirty="0" err="1"/>
              <a:t>key,insert</a:t>
            </a:r>
            <a:r>
              <a:rPr lang="en-US" dirty="0"/>
              <a:t> it in the left subtree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  node-&gt;left = insert(node-&gt;left, key);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Return the (unchanged) node pointer</a:t>
            </a:r>
          </a:p>
          <a:p>
            <a:pPr marL="0" indent="0">
              <a:buNone/>
            </a:pPr>
            <a:r>
              <a:rPr lang="en-US" dirty="0"/>
              <a:t>    return node;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75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in BST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Case 1. Delete a Leaf Node in BST</a:t>
            </a:r>
          </a:p>
          <a:p>
            <a:r>
              <a:rPr lang="en-US" dirty="0"/>
              <a:t>Case 2. Delete a Node with Single Child in </a:t>
            </a:r>
            <a:r>
              <a:rPr lang="en-US" dirty="0" smtClean="0"/>
              <a:t>BST</a:t>
            </a:r>
          </a:p>
          <a:p>
            <a:r>
              <a:rPr lang="en-US" dirty="0"/>
              <a:t>Case 3. Delete a Node with Both Children in </a:t>
            </a:r>
            <a:r>
              <a:rPr lang="en-US" dirty="0" smtClean="0"/>
              <a:t>BST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34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/>
              <a:t>Case 1. Delete a Leaf Node in BST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pic>
        <p:nvPicPr>
          <p:cNvPr id="2050" name="Picture 2" descr="d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05781"/>
            <a:ext cx="82296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20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Case 2. Delete a Node with Single Child in BST</a:t>
            </a:r>
            <a:endParaRPr lang="en-IN" dirty="0"/>
          </a:p>
        </p:txBody>
      </p:sp>
      <p:pic>
        <p:nvPicPr>
          <p:cNvPr id="3074" name="Picture 2" descr="fil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05781"/>
            <a:ext cx="82296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69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Case 3. Delete a Node with Both Children in BST</a:t>
            </a:r>
            <a:endParaRPr lang="en-IN" dirty="0"/>
          </a:p>
        </p:txBody>
      </p:sp>
      <p:pic>
        <p:nvPicPr>
          <p:cNvPr id="4098" name="Picture 2" descr="d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07837"/>
            <a:ext cx="8229600" cy="411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07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in BST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8215" y="1700307"/>
            <a:ext cx="7458261" cy="457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0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C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endParaRPr lang="en-IN" sz="800" dirty="0"/>
          </a:p>
          <a:p>
            <a:pPr marL="0" indent="0">
              <a:buNone/>
            </a:pPr>
            <a:r>
              <a:rPr lang="en-IN" sz="800" dirty="0"/>
              <a:t>// Note that it is not a generic </a:t>
            </a:r>
            <a:r>
              <a:rPr lang="en-IN" sz="800" dirty="0" err="1"/>
              <a:t>inorder</a:t>
            </a:r>
            <a:r>
              <a:rPr lang="en-IN" sz="800" dirty="0"/>
              <a:t> successor</a:t>
            </a:r>
          </a:p>
          <a:p>
            <a:pPr marL="0" indent="0">
              <a:buNone/>
            </a:pPr>
            <a:r>
              <a:rPr lang="en-IN" sz="800" dirty="0"/>
              <a:t>// function. It mainly works when the right child</a:t>
            </a:r>
          </a:p>
          <a:p>
            <a:pPr marL="0" indent="0">
              <a:buNone/>
            </a:pPr>
            <a:r>
              <a:rPr lang="en-IN" sz="800" dirty="0"/>
              <a:t>// is not empty, which is  the case we need in</a:t>
            </a:r>
          </a:p>
          <a:p>
            <a:pPr marL="0" indent="0">
              <a:buNone/>
            </a:pPr>
            <a:r>
              <a:rPr lang="en-IN" sz="800" dirty="0"/>
              <a:t>// BST delete.</a:t>
            </a:r>
          </a:p>
          <a:p>
            <a:pPr marL="0" indent="0">
              <a:buNone/>
            </a:pPr>
            <a:r>
              <a:rPr lang="en-IN" sz="800" dirty="0" err="1"/>
              <a:t>struct</a:t>
            </a:r>
            <a:r>
              <a:rPr lang="en-IN" sz="800" dirty="0"/>
              <a:t> Node* </a:t>
            </a:r>
            <a:r>
              <a:rPr lang="en-IN" sz="800" dirty="0" err="1"/>
              <a:t>getSuccessor</a:t>
            </a:r>
            <a:r>
              <a:rPr lang="en-IN" sz="800" dirty="0"/>
              <a:t>(</a:t>
            </a:r>
            <a:r>
              <a:rPr lang="en-IN" sz="800" dirty="0" err="1"/>
              <a:t>struct</a:t>
            </a:r>
            <a:r>
              <a:rPr lang="en-IN" sz="800" dirty="0"/>
              <a:t> Node* </a:t>
            </a:r>
            <a:r>
              <a:rPr lang="en-IN" sz="800" dirty="0" err="1"/>
              <a:t>curr</a:t>
            </a:r>
            <a:r>
              <a:rPr lang="en-IN" sz="800" dirty="0"/>
              <a:t>) {</a:t>
            </a:r>
          </a:p>
          <a:p>
            <a:pPr marL="0" indent="0">
              <a:buNone/>
            </a:pPr>
            <a:r>
              <a:rPr lang="en-IN" sz="800" dirty="0"/>
              <a:t>    </a:t>
            </a:r>
            <a:r>
              <a:rPr lang="en-IN" sz="800" dirty="0" err="1"/>
              <a:t>curr</a:t>
            </a:r>
            <a:r>
              <a:rPr lang="en-IN" sz="800" dirty="0"/>
              <a:t> = </a:t>
            </a:r>
            <a:r>
              <a:rPr lang="en-IN" sz="800" dirty="0" err="1"/>
              <a:t>curr</a:t>
            </a:r>
            <a:r>
              <a:rPr lang="en-IN" sz="800" dirty="0"/>
              <a:t>-&gt;right;</a:t>
            </a:r>
          </a:p>
          <a:p>
            <a:pPr marL="0" indent="0">
              <a:buNone/>
            </a:pPr>
            <a:r>
              <a:rPr lang="en-IN" sz="800" dirty="0"/>
              <a:t>    while (</a:t>
            </a:r>
            <a:r>
              <a:rPr lang="en-IN" sz="800" dirty="0" err="1"/>
              <a:t>curr</a:t>
            </a:r>
            <a:r>
              <a:rPr lang="en-IN" sz="800" dirty="0"/>
              <a:t> != NULL &amp;&amp; </a:t>
            </a:r>
            <a:r>
              <a:rPr lang="en-IN" sz="800" dirty="0" err="1"/>
              <a:t>curr</a:t>
            </a:r>
            <a:r>
              <a:rPr lang="en-IN" sz="800" dirty="0"/>
              <a:t>-&gt;left != NULL)</a:t>
            </a:r>
          </a:p>
          <a:p>
            <a:pPr marL="0" indent="0">
              <a:buNone/>
            </a:pPr>
            <a:r>
              <a:rPr lang="en-IN" sz="800" dirty="0"/>
              <a:t>        </a:t>
            </a:r>
            <a:r>
              <a:rPr lang="en-IN" sz="800" dirty="0" err="1"/>
              <a:t>curr</a:t>
            </a:r>
            <a:r>
              <a:rPr lang="en-IN" sz="800" dirty="0"/>
              <a:t> = </a:t>
            </a:r>
            <a:r>
              <a:rPr lang="en-IN" sz="800" dirty="0" err="1"/>
              <a:t>curr</a:t>
            </a:r>
            <a:r>
              <a:rPr lang="en-IN" sz="800" dirty="0"/>
              <a:t>-&gt;left;</a:t>
            </a:r>
          </a:p>
          <a:p>
            <a:pPr marL="0" indent="0">
              <a:buNone/>
            </a:pPr>
            <a:r>
              <a:rPr lang="en-IN" sz="800" dirty="0"/>
              <a:t>    return </a:t>
            </a:r>
            <a:r>
              <a:rPr lang="en-IN" sz="800" dirty="0" err="1"/>
              <a:t>curr</a:t>
            </a:r>
            <a:r>
              <a:rPr lang="en-IN" sz="800" dirty="0"/>
              <a:t>;</a:t>
            </a:r>
          </a:p>
          <a:p>
            <a:pPr marL="0" indent="0">
              <a:buNone/>
            </a:pPr>
            <a:r>
              <a:rPr lang="en-IN" sz="800" dirty="0"/>
              <a:t>}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800" dirty="0"/>
              <a:t>// This function deletes a given key x from the</a:t>
            </a:r>
          </a:p>
          <a:p>
            <a:pPr marL="0" indent="0">
              <a:buNone/>
            </a:pPr>
            <a:r>
              <a:rPr lang="en-IN" sz="800" dirty="0"/>
              <a:t>// given BST  and returns the modified root of </a:t>
            </a:r>
          </a:p>
          <a:p>
            <a:pPr marL="0" indent="0">
              <a:buNone/>
            </a:pPr>
            <a:r>
              <a:rPr lang="en-IN" sz="800" dirty="0"/>
              <a:t>// the BST (if it is modified)</a:t>
            </a:r>
          </a:p>
          <a:p>
            <a:pPr marL="0" indent="0">
              <a:buNone/>
            </a:pPr>
            <a:r>
              <a:rPr lang="en-IN" sz="800" dirty="0" err="1"/>
              <a:t>struct</a:t>
            </a:r>
            <a:r>
              <a:rPr lang="en-IN" sz="800" dirty="0"/>
              <a:t> Node* </a:t>
            </a:r>
            <a:r>
              <a:rPr lang="en-IN" sz="800" dirty="0" err="1"/>
              <a:t>delNode</a:t>
            </a:r>
            <a:r>
              <a:rPr lang="en-IN" sz="800" dirty="0"/>
              <a:t>(</a:t>
            </a:r>
            <a:r>
              <a:rPr lang="en-IN" sz="800" dirty="0" err="1"/>
              <a:t>struct</a:t>
            </a:r>
            <a:r>
              <a:rPr lang="en-IN" sz="800" dirty="0"/>
              <a:t> Node* root, </a:t>
            </a:r>
            <a:r>
              <a:rPr lang="en-IN" sz="800" dirty="0" err="1"/>
              <a:t>int</a:t>
            </a:r>
            <a:r>
              <a:rPr lang="en-IN" sz="800" dirty="0"/>
              <a:t> x) {</a:t>
            </a:r>
          </a:p>
          <a:p>
            <a:pPr marL="0" indent="0">
              <a:buNone/>
            </a:pPr>
            <a:r>
              <a:rPr lang="en-IN" sz="800" dirty="0"/>
              <a:t>  </a:t>
            </a:r>
          </a:p>
          <a:p>
            <a:pPr marL="0" indent="0">
              <a:buNone/>
            </a:pPr>
            <a:r>
              <a:rPr lang="en-IN" sz="800" dirty="0"/>
              <a:t>    // Base case</a:t>
            </a:r>
          </a:p>
          <a:p>
            <a:pPr marL="0" indent="0">
              <a:buNone/>
            </a:pPr>
            <a:r>
              <a:rPr lang="en-IN" sz="800" dirty="0"/>
              <a:t>    if (root == NULL)</a:t>
            </a:r>
          </a:p>
          <a:p>
            <a:pPr marL="0" indent="0">
              <a:buNone/>
            </a:pPr>
            <a:r>
              <a:rPr lang="en-IN" sz="800" dirty="0"/>
              <a:t>        return root;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800" dirty="0"/>
              <a:t>    // If key to be searched is in a subtree</a:t>
            </a:r>
          </a:p>
          <a:p>
            <a:pPr marL="0" indent="0">
              <a:buNone/>
            </a:pPr>
            <a:r>
              <a:rPr lang="en-IN" sz="800" dirty="0"/>
              <a:t>    if (root-&gt;key &gt; x)</a:t>
            </a:r>
          </a:p>
          <a:p>
            <a:pPr marL="0" indent="0">
              <a:buNone/>
            </a:pPr>
            <a:r>
              <a:rPr lang="en-IN" sz="800" dirty="0"/>
              <a:t>        root-&gt;left = </a:t>
            </a:r>
            <a:r>
              <a:rPr lang="en-IN" sz="800" dirty="0" err="1"/>
              <a:t>delNode</a:t>
            </a:r>
            <a:r>
              <a:rPr lang="en-IN" sz="800" dirty="0"/>
              <a:t>(root-&gt;left, x);</a:t>
            </a:r>
          </a:p>
          <a:p>
            <a:pPr marL="0" indent="0">
              <a:buNone/>
            </a:pPr>
            <a:r>
              <a:rPr lang="en-IN" sz="800" dirty="0"/>
              <a:t>    else if (root-&gt;key &lt; x)</a:t>
            </a:r>
          </a:p>
          <a:p>
            <a:pPr marL="0" indent="0">
              <a:buNone/>
            </a:pPr>
            <a:r>
              <a:rPr lang="en-IN" sz="800" dirty="0"/>
              <a:t>        root-&gt;right = </a:t>
            </a:r>
            <a:r>
              <a:rPr lang="en-IN" sz="800" dirty="0" err="1"/>
              <a:t>delNode</a:t>
            </a:r>
            <a:r>
              <a:rPr lang="en-IN" sz="800" dirty="0"/>
              <a:t>(root-&gt;right, x);</a:t>
            </a:r>
          </a:p>
          <a:p>
            <a:pPr marL="0" indent="0">
              <a:buNone/>
            </a:pPr>
            <a:r>
              <a:rPr lang="en-IN" sz="800" dirty="0"/>
              <a:t>    else {</a:t>
            </a:r>
          </a:p>
          <a:p>
            <a:pPr marL="0" indent="0">
              <a:buNone/>
            </a:pPr>
            <a:r>
              <a:rPr lang="en-IN" sz="800" dirty="0"/>
              <a:t>        // If root matches with the given key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800" dirty="0"/>
              <a:t>        // Cases when root has 0 children or </a:t>
            </a:r>
          </a:p>
          <a:p>
            <a:pPr marL="0" indent="0">
              <a:buNone/>
            </a:pPr>
            <a:r>
              <a:rPr lang="en-IN" sz="800" dirty="0"/>
              <a:t>        // only right child</a:t>
            </a:r>
          </a:p>
          <a:p>
            <a:pPr marL="0" indent="0">
              <a:buNone/>
            </a:pPr>
            <a:r>
              <a:rPr lang="en-IN" sz="800" dirty="0"/>
              <a:t>        if (root-&gt;left == NULL) {</a:t>
            </a:r>
          </a:p>
          <a:p>
            <a:pPr marL="0" indent="0">
              <a:buNone/>
            </a:pPr>
            <a:r>
              <a:rPr lang="en-IN" sz="800" dirty="0"/>
              <a:t>            </a:t>
            </a:r>
            <a:r>
              <a:rPr lang="en-IN" sz="800" dirty="0" err="1"/>
              <a:t>struct</a:t>
            </a:r>
            <a:r>
              <a:rPr lang="en-IN" sz="800" dirty="0"/>
              <a:t> Node* temp = root-&gt;right;</a:t>
            </a:r>
          </a:p>
          <a:p>
            <a:pPr marL="0" indent="0">
              <a:buNone/>
            </a:pPr>
            <a:r>
              <a:rPr lang="en-IN" sz="800" dirty="0"/>
              <a:t>            free(root);</a:t>
            </a:r>
          </a:p>
          <a:p>
            <a:pPr marL="0" indent="0">
              <a:buNone/>
            </a:pPr>
            <a:r>
              <a:rPr lang="en-IN" sz="800" dirty="0"/>
              <a:t>            return temp;</a:t>
            </a:r>
          </a:p>
          <a:p>
            <a:pPr marL="0" indent="0">
              <a:buNone/>
            </a:pPr>
            <a:r>
              <a:rPr lang="en-IN" sz="800" dirty="0"/>
              <a:t>        }</a:t>
            </a:r>
          </a:p>
          <a:p>
            <a:pPr marL="0" indent="0">
              <a:buNone/>
            </a:pPr>
            <a:endParaRPr lang="en-IN" sz="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800" dirty="0"/>
              <a:t> // When root has only left child</a:t>
            </a:r>
          </a:p>
          <a:p>
            <a:pPr marL="0" indent="0">
              <a:buNone/>
            </a:pPr>
            <a:r>
              <a:rPr lang="en-IN" sz="800" dirty="0"/>
              <a:t>        if (root-&gt;right == NULL) {</a:t>
            </a:r>
          </a:p>
          <a:p>
            <a:pPr marL="0" indent="0">
              <a:buNone/>
            </a:pPr>
            <a:r>
              <a:rPr lang="en-IN" sz="800" dirty="0"/>
              <a:t>            </a:t>
            </a:r>
            <a:r>
              <a:rPr lang="en-IN" sz="800" dirty="0" err="1"/>
              <a:t>struct</a:t>
            </a:r>
            <a:r>
              <a:rPr lang="en-IN" sz="800" dirty="0"/>
              <a:t> Node* temp = root-&gt;left;</a:t>
            </a:r>
          </a:p>
          <a:p>
            <a:pPr marL="0" indent="0">
              <a:buNone/>
            </a:pPr>
            <a:r>
              <a:rPr lang="en-IN" sz="800" dirty="0"/>
              <a:t>            free(root);</a:t>
            </a:r>
          </a:p>
          <a:p>
            <a:pPr marL="0" indent="0">
              <a:buNone/>
            </a:pPr>
            <a:r>
              <a:rPr lang="en-IN" sz="800" dirty="0"/>
              <a:t>            return temp;</a:t>
            </a:r>
          </a:p>
          <a:p>
            <a:pPr marL="0" indent="0">
              <a:buNone/>
            </a:pPr>
            <a:r>
              <a:rPr lang="en-IN" sz="800" dirty="0"/>
              <a:t>        }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800" dirty="0"/>
              <a:t>        // When both children are present</a:t>
            </a:r>
          </a:p>
          <a:p>
            <a:pPr marL="0" indent="0">
              <a:buNone/>
            </a:pPr>
            <a:r>
              <a:rPr lang="en-IN" sz="800" dirty="0"/>
              <a:t>        </a:t>
            </a:r>
            <a:r>
              <a:rPr lang="en-IN" sz="800" dirty="0" err="1"/>
              <a:t>struct</a:t>
            </a:r>
            <a:r>
              <a:rPr lang="en-IN" sz="800" dirty="0"/>
              <a:t> Node* </a:t>
            </a:r>
            <a:r>
              <a:rPr lang="en-IN" sz="800" dirty="0" err="1"/>
              <a:t>succ</a:t>
            </a:r>
            <a:r>
              <a:rPr lang="en-IN" sz="800" dirty="0"/>
              <a:t> = </a:t>
            </a:r>
            <a:r>
              <a:rPr lang="en-IN" sz="800" dirty="0" err="1"/>
              <a:t>getSuccessor</a:t>
            </a:r>
            <a:r>
              <a:rPr lang="en-IN" sz="800" dirty="0"/>
              <a:t>(root);</a:t>
            </a:r>
          </a:p>
          <a:p>
            <a:pPr marL="0" indent="0">
              <a:buNone/>
            </a:pPr>
            <a:r>
              <a:rPr lang="en-IN" sz="800" dirty="0"/>
              <a:t>        root-&gt;key = </a:t>
            </a:r>
            <a:r>
              <a:rPr lang="en-IN" sz="800" dirty="0" err="1"/>
              <a:t>succ</a:t>
            </a:r>
            <a:r>
              <a:rPr lang="en-IN" sz="800" dirty="0"/>
              <a:t>-&gt;key;</a:t>
            </a:r>
          </a:p>
          <a:p>
            <a:pPr marL="0" indent="0">
              <a:buNone/>
            </a:pPr>
            <a:r>
              <a:rPr lang="en-IN" sz="800" dirty="0"/>
              <a:t>        root-&gt;right = </a:t>
            </a:r>
            <a:r>
              <a:rPr lang="en-IN" sz="800" dirty="0" err="1"/>
              <a:t>delNode</a:t>
            </a:r>
            <a:r>
              <a:rPr lang="en-IN" sz="800" dirty="0"/>
              <a:t>(root-&gt;right, </a:t>
            </a:r>
            <a:r>
              <a:rPr lang="en-IN" sz="800" dirty="0" err="1"/>
              <a:t>succ</a:t>
            </a:r>
            <a:r>
              <a:rPr lang="en-IN" sz="800" dirty="0"/>
              <a:t>-&gt;key);</a:t>
            </a:r>
          </a:p>
          <a:p>
            <a:pPr marL="0" indent="0">
              <a:buNone/>
            </a:pPr>
            <a:r>
              <a:rPr lang="en-IN" sz="800" dirty="0"/>
              <a:t>    }</a:t>
            </a:r>
          </a:p>
          <a:p>
            <a:pPr marL="0" indent="0">
              <a:buNone/>
            </a:pPr>
            <a:r>
              <a:rPr lang="en-IN" sz="800" dirty="0"/>
              <a:t>    return root;</a:t>
            </a:r>
          </a:p>
          <a:p>
            <a:pPr marL="0" indent="0">
              <a:buNone/>
            </a:pPr>
            <a:r>
              <a:rPr lang="en-IN" sz="800" dirty="0"/>
              <a:t>}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800" dirty="0" err="1"/>
              <a:t>struct</a:t>
            </a:r>
            <a:r>
              <a:rPr lang="en-IN" sz="800" dirty="0"/>
              <a:t> Node* </a:t>
            </a:r>
            <a:r>
              <a:rPr lang="en-IN" sz="800" dirty="0" err="1"/>
              <a:t>createNode</a:t>
            </a:r>
            <a:r>
              <a:rPr lang="en-IN" sz="800" dirty="0"/>
              <a:t>(</a:t>
            </a:r>
            <a:r>
              <a:rPr lang="en-IN" sz="800" dirty="0" err="1"/>
              <a:t>int</a:t>
            </a:r>
            <a:r>
              <a:rPr lang="en-IN" sz="800" dirty="0"/>
              <a:t> key) {</a:t>
            </a:r>
          </a:p>
          <a:p>
            <a:pPr marL="0" indent="0">
              <a:buNone/>
            </a:pPr>
            <a:r>
              <a:rPr lang="en-IN" sz="800" dirty="0"/>
              <a:t>    </a:t>
            </a:r>
            <a:r>
              <a:rPr lang="en-IN" sz="800" dirty="0" err="1"/>
              <a:t>struct</a:t>
            </a:r>
            <a:r>
              <a:rPr lang="en-IN" sz="800" dirty="0"/>
              <a:t> Node* </a:t>
            </a:r>
            <a:r>
              <a:rPr lang="en-IN" sz="800" dirty="0" err="1"/>
              <a:t>newNode</a:t>
            </a:r>
            <a:r>
              <a:rPr lang="en-IN" sz="800" dirty="0"/>
              <a:t> = </a:t>
            </a:r>
          </a:p>
          <a:p>
            <a:pPr marL="0" indent="0">
              <a:buNone/>
            </a:pPr>
            <a:r>
              <a:rPr lang="en-IN" sz="800" dirty="0"/>
              <a:t>       (</a:t>
            </a:r>
            <a:r>
              <a:rPr lang="en-IN" sz="800" dirty="0" err="1"/>
              <a:t>struct</a:t>
            </a:r>
            <a:r>
              <a:rPr lang="en-IN" sz="800" dirty="0"/>
              <a:t> Node*)</a:t>
            </a:r>
            <a:r>
              <a:rPr lang="en-IN" sz="800" dirty="0" err="1"/>
              <a:t>malloc</a:t>
            </a:r>
            <a:r>
              <a:rPr lang="en-IN" sz="800" dirty="0"/>
              <a:t>(</a:t>
            </a:r>
            <a:r>
              <a:rPr lang="en-IN" sz="800" dirty="0" err="1"/>
              <a:t>sizeof</a:t>
            </a:r>
            <a:r>
              <a:rPr lang="en-IN" sz="800" dirty="0"/>
              <a:t>(</a:t>
            </a:r>
            <a:r>
              <a:rPr lang="en-IN" sz="800" dirty="0" err="1"/>
              <a:t>struct</a:t>
            </a:r>
            <a:r>
              <a:rPr lang="en-IN" sz="800" dirty="0"/>
              <a:t> Node));</a:t>
            </a:r>
          </a:p>
          <a:p>
            <a:pPr marL="0" indent="0">
              <a:buNone/>
            </a:pPr>
            <a:r>
              <a:rPr lang="en-IN" sz="800" dirty="0"/>
              <a:t>    </a:t>
            </a:r>
            <a:r>
              <a:rPr lang="en-IN" sz="800" dirty="0" err="1"/>
              <a:t>newNode</a:t>
            </a:r>
            <a:r>
              <a:rPr lang="en-IN" sz="800" dirty="0"/>
              <a:t>-&gt;key = key;</a:t>
            </a:r>
          </a:p>
          <a:p>
            <a:pPr marL="0" indent="0">
              <a:buNone/>
            </a:pPr>
            <a:r>
              <a:rPr lang="en-IN" sz="800" dirty="0"/>
              <a:t>    </a:t>
            </a:r>
            <a:r>
              <a:rPr lang="en-IN" sz="800" dirty="0" err="1"/>
              <a:t>newNode</a:t>
            </a:r>
            <a:r>
              <a:rPr lang="en-IN" sz="800" dirty="0"/>
              <a:t>-&gt;left = </a:t>
            </a:r>
            <a:r>
              <a:rPr lang="en-IN" sz="800" dirty="0" err="1"/>
              <a:t>newNode</a:t>
            </a:r>
            <a:r>
              <a:rPr lang="en-IN" sz="800" dirty="0"/>
              <a:t>-&gt;right = NULL;</a:t>
            </a:r>
          </a:p>
          <a:p>
            <a:pPr marL="0" indent="0">
              <a:buNone/>
            </a:pPr>
            <a:r>
              <a:rPr lang="en-IN" sz="800" dirty="0"/>
              <a:t>    return </a:t>
            </a:r>
            <a:r>
              <a:rPr lang="en-IN" sz="800" dirty="0" err="1"/>
              <a:t>newNode</a:t>
            </a:r>
            <a:r>
              <a:rPr lang="en-IN" sz="800" dirty="0"/>
              <a:t>;</a:t>
            </a:r>
          </a:p>
          <a:p>
            <a:pPr marL="0" indent="0">
              <a:buNone/>
            </a:pPr>
            <a:r>
              <a:rPr lang="en-IN" sz="800" dirty="0"/>
              <a:t>}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800" dirty="0"/>
              <a:t>// Utility function to do </a:t>
            </a:r>
            <a:r>
              <a:rPr lang="en-IN" sz="800" dirty="0" err="1"/>
              <a:t>inorder</a:t>
            </a:r>
            <a:r>
              <a:rPr lang="en-IN" sz="800" dirty="0"/>
              <a:t> traversal</a:t>
            </a:r>
          </a:p>
          <a:p>
            <a:pPr marL="0" indent="0">
              <a:buNone/>
            </a:pPr>
            <a:r>
              <a:rPr lang="en-IN" sz="800" dirty="0"/>
              <a:t>void </a:t>
            </a:r>
            <a:r>
              <a:rPr lang="en-IN" sz="800" dirty="0" err="1"/>
              <a:t>inorder</a:t>
            </a:r>
            <a:r>
              <a:rPr lang="en-IN" sz="800" dirty="0"/>
              <a:t>(</a:t>
            </a:r>
            <a:r>
              <a:rPr lang="en-IN" sz="800" dirty="0" err="1"/>
              <a:t>struct</a:t>
            </a:r>
            <a:r>
              <a:rPr lang="en-IN" sz="800" dirty="0"/>
              <a:t> Node* root) {</a:t>
            </a:r>
          </a:p>
          <a:p>
            <a:pPr marL="0" indent="0">
              <a:buNone/>
            </a:pPr>
            <a:r>
              <a:rPr lang="en-IN" sz="800" dirty="0"/>
              <a:t>    if (root != NULL) {</a:t>
            </a:r>
          </a:p>
          <a:p>
            <a:pPr marL="0" indent="0">
              <a:buNone/>
            </a:pPr>
            <a:r>
              <a:rPr lang="en-IN" sz="800" dirty="0"/>
              <a:t>        </a:t>
            </a:r>
            <a:r>
              <a:rPr lang="en-IN" sz="800" dirty="0" err="1"/>
              <a:t>inorder</a:t>
            </a:r>
            <a:r>
              <a:rPr lang="en-IN" sz="800" dirty="0"/>
              <a:t>(root-&gt;left);</a:t>
            </a:r>
          </a:p>
          <a:p>
            <a:pPr marL="0" indent="0">
              <a:buNone/>
            </a:pPr>
            <a:r>
              <a:rPr lang="en-IN" sz="800" dirty="0"/>
              <a:t>        </a:t>
            </a:r>
            <a:r>
              <a:rPr lang="en-IN" sz="800" dirty="0" err="1"/>
              <a:t>printf</a:t>
            </a:r>
            <a:r>
              <a:rPr lang="en-IN" sz="800" dirty="0"/>
              <a:t>("%d ", root-&gt;key);</a:t>
            </a:r>
          </a:p>
          <a:p>
            <a:pPr marL="0" indent="0">
              <a:buNone/>
            </a:pPr>
            <a:r>
              <a:rPr lang="en-IN" sz="800" dirty="0"/>
              <a:t>        </a:t>
            </a:r>
            <a:r>
              <a:rPr lang="en-IN" sz="800" dirty="0" err="1"/>
              <a:t>inorder</a:t>
            </a:r>
            <a:r>
              <a:rPr lang="en-IN" sz="800" dirty="0"/>
              <a:t>(root-&gt;right);</a:t>
            </a:r>
          </a:p>
          <a:p>
            <a:pPr marL="0" indent="0">
              <a:buNone/>
            </a:pPr>
            <a:r>
              <a:rPr lang="en-IN" sz="800" dirty="0"/>
              <a:t>    }</a:t>
            </a:r>
          </a:p>
          <a:p>
            <a:pPr marL="0" indent="0">
              <a:buNone/>
            </a:pPr>
            <a:r>
              <a:rPr lang="en-IN" sz="800" dirty="0"/>
              <a:t>}</a:t>
            </a:r>
          </a:p>
          <a:p>
            <a:pPr marL="0" indent="0">
              <a:buNone/>
            </a:pP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42647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BST Traversals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Illustrate the output of Inorder, Preorder, and Postorder traversals on a sample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Height and Balance of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Height of a tree affects operation complexity:</a:t>
            </a:r>
          </a:p>
          <a:p>
            <a:r>
              <a:t>- Balanced tree: O(log n)</a:t>
            </a:r>
          </a:p>
          <a:p>
            <a:r>
              <a:t>- Unbalanced tree: O(n)</a:t>
            </a:r>
          </a:p>
          <a:p>
            <a:r>
              <a:t>Example: Compare a balanced vs unbalanced BST.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1244</Words>
  <Application>Microsoft Office PowerPoint</Application>
  <PresentationFormat>On-screen Show (4:3)</PresentationFormat>
  <Paragraphs>218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Binary Search Trees (BST)</vt:lpstr>
      <vt:lpstr>Introduction to Binary Search Trees</vt:lpstr>
      <vt:lpstr>Binary Search Tree Properties</vt:lpstr>
      <vt:lpstr>BST Example</vt:lpstr>
      <vt:lpstr>Basic Operations Overview</vt:lpstr>
      <vt:lpstr>PowerPoint Presentation</vt:lpstr>
      <vt:lpstr>Tree Search</vt:lpstr>
      <vt:lpstr>Search in BST</vt:lpstr>
      <vt:lpstr>Iterative Search in BST</vt:lpstr>
      <vt:lpstr>Search – C Code</vt:lpstr>
      <vt:lpstr>Minimum and Maximum in BST</vt:lpstr>
      <vt:lpstr>Minimum and Maximum in BST</vt:lpstr>
      <vt:lpstr>In order - Successor</vt:lpstr>
      <vt:lpstr>Insertion</vt:lpstr>
      <vt:lpstr>Insertion</vt:lpstr>
      <vt:lpstr>Insertion</vt:lpstr>
      <vt:lpstr>Insertion C- code</vt:lpstr>
      <vt:lpstr>Deletion in BST</vt:lpstr>
      <vt:lpstr>Case 1. Delete a Leaf Node in BST </vt:lpstr>
      <vt:lpstr>Case 2. Delete a Node with Single Child in BST</vt:lpstr>
      <vt:lpstr>Case 3. Delete a Node with Both Children in BST</vt:lpstr>
      <vt:lpstr>Deletion in BST</vt:lpstr>
      <vt:lpstr>Deletion C program</vt:lpstr>
      <vt:lpstr>Example of BST Traversals</vt:lpstr>
      <vt:lpstr>Height and Balance of BST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Trees (BST)</dc:title>
  <dc:subject/>
  <dc:creator>admin</dc:creator>
  <cp:keywords/>
  <dc:description>generated using python-pptx</dc:description>
  <cp:lastModifiedBy>admin</cp:lastModifiedBy>
  <cp:revision>9</cp:revision>
  <dcterms:created xsi:type="dcterms:W3CDTF">2013-01-27T09:14:16Z</dcterms:created>
  <dcterms:modified xsi:type="dcterms:W3CDTF">2024-09-30T06:11:17Z</dcterms:modified>
  <cp:category/>
</cp:coreProperties>
</file>